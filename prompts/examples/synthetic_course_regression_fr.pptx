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Régression linéaire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Statistiques appliquées — Séance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Comprendre le modèle de régression linéaire simple</a:t>
            </a:r>
          </a:p>
          <a:p>
            <a:r>
              <a:t>- Estimer les coefficients par la méthode des moindres carrés ordinaires (MCO)</a:t>
            </a:r>
          </a:p>
          <a:p>
            <a:r>
              <a:t>- Interpréter la pente et l'ordonnée à l'origine</a:t>
            </a:r>
          </a:p>
          <a:p>
            <a:r>
              <a:t>- Mesurer la qualité de l'ajustement avec le R²</a:t>
            </a:r>
          </a:p>
          <a:p>
            <a:r>
              <a:t>- Connaître les hypothèses du modèle et ses limites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modèle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 = β0 + β1·x + ε</a:t>
            </a:r>
          </a:p>
          <a:p>
            <a:r>
              <a:t>- y : variable expliquée (ou dépendante)</a:t>
            </a:r>
          </a:p>
          <a:p>
            <a:r>
              <a:t>- x : variable explicative (ou indépendante)</a:t>
            </a:r>
          </a:p>
          <a:p>
            <a:r>
              <a:t>- β0 : ordonnée à l'origine, valeur prédite de y quand x = 0</a:t>
            </a:r>
          </a:p>
          <a:p>
            <a:r>
              <a:t>- β1 : pente, variation moyenne de y quand x augmente d'une unité</a:t>
            </a:r>
          </a:p>
          <a:p>
            <a:r>
              <a:t>- ε : terme d'erreur, ce que x n'explique 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Estimation par les moindres carrés ordinaires (MCO)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Principe : choisir β0 et β1 qui minimisent la somme des carrés des résidus Σ (yi − ŷi)²</a:t>
            </a:r>
          </a:p>
          <a:p>
            <a:r>
              <a:t>- Résidu : ei = yi − ŷi, écart entre la valeur observée et la valeur prédite</a:t>
            </a:r>
          </a:p>
          <a:p>
            <a:r>
              <a:t>- Pente estimée : β̂1 = Cov(x, y) / Var(x)</a:t>
            </a:r>
          </a:p>
          <a:p>
            <a:r>
              <a:t>- Ordonnée à l'origine estimée : β̂0 = ȳ − β̂1 · x̄</a:t>
            </a:r>
          </a:p>
          <a:p>
            <a:r>
              <a:t>- La droite estimée passe toujours par le point moyen (x̄, ȳ)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: publicité et ventes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Données : budget publicitaire mensuel (x, en k€) et ventes mensuelles (y, en k€) de 10 magasins</a:t>
            </a:r>
          </a:p>
          <a:p>
            <a:r>
              <a:t>- Droite estimée : ŷ = 12 + 3,5x</a:t>
            </a:r>
          </a:p>
          <a:p>
            <a:r>
              <a:t>- Interprétation de la pente : 1 k€ de publicité supplémentaire est associé en moyenne à 3,5 k€ de ventes en plus</a:t>
            </a:r>
          </a:p>
          <a:p>
            <a:r>
              <a:t>- Interprétation de l'ordonnée à l'origine : 12 k€ de ventes prédites sans publicité, à prendre avec prudence si aucun magasin n'a un budget nul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Nuage de points et droite de régression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Voir le graphique ci-dessous.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Qualité de l'ajustement : le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SCT = Σ (yi − ȳ)² : variabilité totale de y</a:t>
            </a:r>
          </a:p>
          <a:p>
            <a:r>
              <a:t>- SCR = Σ (yi − ŷi)² : variabilité résiduelle, non expliquée par le modèle</a:t>
            </a:r>
          </a:p>
          <a:p>
            <a:r>
              <a:t>- R² = 1 − SCR / SCT, compris entre 0 et 1</a:t>
            </a:r>
          </a:p>
          <a:p>
            <a:r>
              <a:t>- Le R² est la part de la variance de y expliquée par x</a:t>
            </a:r>
          </a:p>
          <a:p>
            <a:r>
              <a:t>- Dans l'exemple : R² = 0,81, soit 81 % de la variance des ventes expliquée par le budget publicitaire</a:t>
            </a:r>
          </a:p>
          <a:p>
            <a:r>
              <a:t>- En régression simple, R² = r², le carré du coefficient de corrélation linéaire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Hypothèses du modèle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Linéarité : la relation entre x et y est linéaire</a:t>
            </a:r>
          </a:p>
          <a:p>
            <a:r>
              <a:t>2. Indépendance des erreurs</a:t>
            </a:r>
          </a:p>
          <a:p>
            <a:r>
              <a:t>3. Homoscédasticité : la variance des erreurs est constante</a:t>
            </a:r>
          </a:p>
          <a:p>
            <a:r>
              <a:t>4. Normalité des erreurs, nécessaire pour les tests et les intervalles de confiance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Tester l'effet de 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Hypothèse nulle H0 : β1 = 0 (x n'a pas d'effet linéaire sur y)</a:t>
            </a:r>
          </a:p>
          <a:p>
            <a:r>
              <a:t>- Statistique de test : t = β̂1 / se(β̂1), qui suit une loi de Student à n − 2 degrés de liberté sous H0</a:t>
            </a:r>
          </a:p>
          <a:p>
            <a:r>
              <a:t>- Si la p-value est inférieure à 0,05, on rejette H0 au seuil de 5 %</a:t>
            </a:r>
          </a:p>
          <a:p>
            <a:r>
              <a:t>- Dans l'exemple : p &lt; 0,001, l'effet du budget publicitaire est significatif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Pièges fréquents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Corrélation n'est pas causalité : la régression mesure une association</a:t>
            </a:r>
          </a:p>
          <a:p>
            <a:r>
              <a:t>- Extrapolation : ne pas prédire en dehors de l'intervalle des x observés</a:t>
            </a:r>
          </a:p>
          <a:p>
            <a:r>
              <a:t>- Valeurs aberrantes : un seul point extrême peut fortement modifier la droite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 partiel aura lieu le 15 décembre</a:t>
            </a:r>
          </a:p>
          <a:p>
            <a:r>
              <a:t>- Documents non autorisés, calculatrice autorisée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